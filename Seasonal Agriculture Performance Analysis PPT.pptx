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48" r:id="rId7"/>
    <p:sldId id="329" r:id="rId8"/>
    <p:sldId id="302" r:id="rId9"/>
    <p:sldId id="339" r:id="rId10"/>
    <p:sldId id="340" r:id="rId11"/>
    <p:sldId id="344" r:id="rId12"/>
    <p:sldId id="346" r:id="rId13"/>
    <p:sldId id="345" r:id="rId14"/>
    <p:sldId id="350"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dirty="0"/>
              <a:t>Click icon to add picture</a:t>
            </a:r>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dirty="0"/>
              <a:t>Click icon to add picture</a:t>
            </a:r>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hravi323/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799080"/>
            <a:ext cx="6200704" cy="646331"/>
          </a:xfrm>
        </p:spPr>
        <p:txBody>
          <a:bodyPr vert="horz" lIns="91440" tIns="45720" rIns="91440" bIns="45720" rtlCol="0" anchor="t">
            <a:normAutofit fontScale="25000" lnSpcReduction="20000"/>
          </a:bodyPr>
          <a:lstStyle/>
          <a:p>
            <a:pPr lvl="0">
              <a:spcBef>
                <a:spcPts val="0"/>
              </a:spcBef>
              <a:spcAft>
                <a:spcPts val="1417"/>
              </a:spcAft>
              <a:buClrTx/>
              <a:buSzTx/>
              <a:defRPr sz="2100"/>
            </a:pPr>
            <a:r>
              <a:rPr lang="en-US" sz="7200" dirty="0">
                <a:solidFill>
                  <a:prstClr val="black"/>
                </a:solidFill>
                <a:latin typeface="Calibri"/>
              </a:rPr>
              <a:t>Shravani Waghawale</a:t>
            </a:r>
          </a:p>
          <a:p>
            <a:pPr lvl="0">
              <a:spcBef>
                <a:spcPts val="0"/>
              </a:spcBef>
              <a:spcAft>
                <a:spcPts val="1417"/>
              </a:spcAft>
              <a:buClrTx/>
              <a:buSzTx/>
              <a:defRPr sz="2100"/>
            </a:pPr>
            <a:r>
              <a:rPr lang="en-US" sz="7200" dirty="0">
                <a:solidFill>
                  <a:prstClr val="black"/>
                </a:solidFill>
                <a:latin typeface="Calibri"/>
              </a:rPr>
              <a:t>Nutan College of Engineering and Research, Pune</a:t>
            </a:r>
          </a:p>
          <a:p>
            <a:pPr lvl="0">
              <a:spcBef>
                <a:spcPts val="0"/>
              </a:spcBef>
              <a:spcAft>
                <a:spcPts val="1417"/>
              </a:spcAft>
              <a:buClrTx/>
              <a:buSzTx/>
              <a:defRPr sz="2100"/>
            </a:pPr>
            <a:endParaRPr lang="en-US" b="0" dirty="0">
              <a:solidFill>
                <a:prstClr val="black"/>
              </a:solidFill>
              <a:latin typeface="Calibri"/>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7571" y="2658518"/>
            <a:ext cx="8074543" cy="1140561"/>
          </a:xfrm>
        </p:spPr>
        <p:txBody>
          <a:bodyPr>
            <a:normAutofit/>
          </a:bodyPr>
          <a:lstStyle/>
          <a:p>
            <a:pPr lvl="0">
              <a:spcBef>
                <a:spcPts val="0"/>
              </a:spcBef>
              <a:defRPr sz="3000" b="1"/>
            </a:pPr>
            <a:r>
              <a:rPr lang="en-US" sz="3000" b="1" dirty="0">
                <a:solidFill>
                  <a:prstClr val="black"/>
                </a:solidFill>
                <a:latin typeface="+mj-lt"/>
                <a:ea typeface="+mn-ea"/>
                <a:cs typeface="+mn-cs"/>
              </a:rPr>
              <a:t>Seasonal Agriculture Performance Analysis</a:t>
            </a:r>
            <a:br>
              <a:rPr lang="en-US" sz="3000" b="1" dirty="0">
                <a:solidFill>
                  <a:prstClr val="black"/>
                </a:solidFill>
                <a:latin typeface="+mj-lt"/>
                <a:ea typeface="+mn-ea"/>
                <a:cs typeface="+mn-cs"/>
              </a:rPr>
            </a:br>
            <a:endParaRPr lang="en-IN" sz="3200" dirty="0">
              <a:latin typeface="+mj-lt"/>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657858"/>
            <a:ext cx="6833655" cy="369332"/>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AICTE STU ID : STU685445520d8961750353234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3424" y="1904924"/>
            <a:ext cx="7662788" cy="3607987"/>
          </a:xfrm>
        </p:spPr>
        <p:txBody>
          <a:bodyPr vert="horz" lIns="91440" tIns="45720" rIns="91440" bIns="45720" rtlCol="0" anchor="t">
            <a:normAutofit fontScale="62500" lnSpcReduction="20000"/>
          </a:bodyPr>
          <a:lstStyle/>
          <a:p>
            <a:pPr algn="just">
              <a:lnSpc>
                <a:spcPct val="150000"/>
              </a:lnSpc>
            </a:pPr>
            <a:r>
              <a:rPr lang="en-US" sz="2800" dirty="0">
                <a:latin typeface="Calibri" panose="020F0502020204030204" pitchFamily="34" charset="0"/>
                <a:ea typeface="Calibri" panose="020F0502020204030204" pitchFamily="34" charset="0"/>
                <a:cs typeface="Calibri" panose="020F050202020403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a:t>
            </a:r>
          </a:p>
          <a:p>
            <a:pPr algn="just">
              <a:lnSpc>
                <a:spcPct val="150000"/>
              </a:lnSpc>
            </a:pPr>
            <a:r>
              <a:rPr lang="en-US" sz="2800" dirty="0">
                <a:latin typeface="Calibri" panose="020F0502020204030204" pitchFamily="34" charset="0"/>
                <a:ea typeface="Calibri" panose="020F0502020204030204" pitchFamily="34" charset="0"/>
                <a:cs typeface="Calibri" panose="020F0502020204030204" pitchFamily="34" charset="0"/>
              </a:rPr>
              <a:t>The project analyzes seasonal differences, patterns, trends, relationships and variations in agricultural performance.</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3200" dirty="0"/>
              <a:t>PROBLEM</a:t>
            </a:r>
            <a:r>
              <a:rPr lang="en-US" sz="4400" dirty="0"/>
              <a:t>  </a:t>
            </a:r>
            <a:r>
              <a:rPr lang="en-US" sz="3200" dirty="0"/>
              <a:t>STATEMENT</a:t>
            </a:r>
            <a:endParaRPr lang="en-IN" sz="44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BD84E7-DF48-0583-A0F6-240F6D80CB93}"/>
              </a:ext>
            </a:extLst>
          </p:cNvPr>
          <p:cNvSpPr>
            <a:spLocks noGrp="1"/>
          </p:cNvSpPr>
          <p:nvPr>
            <p:ph type="body" sz="quarter" idx="12"/>
          </p:nvPr>
        </p:nvSpPr>
        <p:spPr>
          <a:xfrm>
            <a:off x="660400" y="1088902"/>
            <a:ext cx="9398000" cy="5439746"/>
          </a:xfrm>
        </p:spPr>
        <p:txBody>
          <a:bodyPr>
            <a:norm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project focuses on analyzing agricultural activities across Kharif, Rabi and Zaid seasons.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dataset contains information about:</a:t>
            </a:r>
          </a:p>
          <a:p>
            <a:pPr marL="342900" marR="0" lvl="0" indent="-342900" algn="l" defTabSz="457200" rtl="0" eaLnBrk="1" fontAlgn="auto" latinLnBrk="0" hangingPunct="1">
              <a:lnSpc>
                <a:spcPct val="100000"/>
              </a:lnSpc>
              <a:spcBef>
                <a:spcPts val="1000"/>
              </a:spcBef>
              <a:spcAft>
                <a:spcPts val="0"/>
              </a:spcAft>
              <a:buClr>
                <a:prstClr val="black"/>
              </a:buClr>
              <a:buSzPct val="80000"/>
              <a:buFont typeface="Arial" panose="020B0604020202020204" pitchFamily="34" charset="0"/>
              <a:buChar char="•"/>
              <a:tabLst/>
              <a:defRPr/>
            </a:pPr>
            <a:r>
              <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Crop production and yield </a:t>
            </a:r>
          </a:p>
          <a:p>
            <a:pPr marL="342900" marR="0" lvl="0" indent="-342900" algn="l" defTabSz="457200" rtl="0" eaLnBrk="1" fontAlgn="auto" latinLnBrk="0" hangingPunct="1">
              <a:lnSpc>
                <a:spcPct val="100000"/>
              </a:lnSpc>
              <a:spcBef>
                <a:spcPts val="1000"/>
              </a:spcBef>
              <a:spcAft>
                <a:spcPts val="0"/>
              </a:spcAft>
              <a:buClr>
                <a:prstClr val="black"/>
              </a:buClr>
              <a:buSzPct val="80000"/>
              <a:buFont typeface="Arial" panose="020B0604020202020204" pitchFamily="34" charset="0"/>
              <a:buChar char="•"/>
              <a:tabLst/>
              <a:defRPr/>
            </a:pPr>
            <a:r>
              <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Rainfall, temperature and humidity </a:t>
            </a:r>
          </a:p>
          <a:p>
            <a:pPr marL="342900" marR="0" lvl="0" indent="-342900" algn="l" defTabSz="457200" rtl="0" eaLnBrk="1" fontAlgn="auto" latinLnBrk="0" hangingPunct="1">
              <a:lnSpc>
                <a:spcPct val="100000"/>
              </a:lnSpc>
              <a:spcBef>
                <a:spcPts val="1000"/>
              </a:spcBef>
              <a:spcAft>
                <a:spcPts val="0"/>
              </a:spcAft>
              <a:buClr>
                <a:prstClr val="black"/>
              </a:buClr>
              <a:buSzPct val="80000"/>
              <a:buFont typeface="Arial" panose="020B0604020202020204" pitchFamily="34" charset="0"/>
              <a:buChar char="•"/>
              <a:tabLst/>
              <a:defRPr/>
            </a:pPr>
            <a:r>
              <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Soil moisture </a:t>
            </a:r>
          </a:p>
          <a:p>
            <a:pPr marL="342900" marR="0" lvl="0" indent="-342900" algn="l" defTabSz="457200" rtl="0" eaLnBrk="1" fontAlgn="auto" latinLnBrk="0" hangingPunct="1">
              <a:lnSpc>
                <a:spcPct val="100000"/>
              </a:lnSpc>
              <a:spcBef>
                <a:spcPts val="1000"/>
              </a:spcBef>
              <a:spcAft>
                <a:spcPts val="0"/>
              </a:spcAft>
              <a:buClr>
                <a:prstClr val="black"/>
              </a:buClr>
              <a:buSzPct val="80000"/>
              <a:buFont typeface="Arial" panose="020B0604020202020204" pitchFamily="34" charset="0"/>
              <a:buChar char="•"/>
              <a:tabLst/>
              <a:defRPr/>
            </a:pPr>
            <a:r>
              <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Fertilizer and irrigation </a:t>
            </a:r>
          </a:p>
          <a:p>
            <a:pPr marL="342900" marR="0" lvl="0" indent="-342900" algn="l" defTabSz="457200" rtl="0" eaLnBrk="1" fontAlgn="auto" latinLnBrk="0" hangingPunct="1">
              <a:lnSpc>
                <a:spcPct val="100000"/>
              </a:lnSpc>
              <a:spcBef>
                <a:spcPts val="1000"/>
              </a:spcBef>
              <a:spcAft>
                <a:spcPts val="0"/>
              </a:spcAft>
              <a:buClr>
                <a:prstClr val="black"/>
              </a:buClr>
              <a:buSzPct val="80000"/>
              <a:buFont typeface="Arial" panose="020B0604020202020204" pitchFamily="34" charset="0"/>
              <a:buChar char="•"/>
              <a:tabLst/>
              <a:defRPr/>
            </a:pPr>
            <a:r>
              <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Water usage and efficiency </a:t>
            </a:r>
          </a:p>
          <a:p>
            <a:pPr marL="342900" marR="0" lvl="0" indent="-342900" algn="l" defTabSz="457200" rtl="0" eaLnBrk="1" fontAlgn="auto" latinLnBrk="0" hangingPunct="1">
              <a:lnSpc>
                <a:spcPct val="100000"/>
              </a:lnSpc>
              <a:spcBef>
                <a:spcPts val="1000"/>
              </a:spcBef>
              <a:spcAft>
                <a:spcPts val="0"/>
              </a:spcAft>
              <a:buClr>
                <a:prstClr val="black"/>
              </a:buClr>
              <a:buSzPct val="80000"/>
              <a:buFont typeface="Arial" panose="020B0604020202020204" pitchFamily="34" charset="0"/>
              <a:buChar char="•"/>
              <a:tabLst/>
              <a:defRPr/>
            </a:pPr>
            <a:r>
              <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Revenue, cost and profit </a:t>
            </a:r>
          </a:p>
          <a:p>
            <a:pPr marL="342900" marR="0" lvl="0" indent="-342900" algn="l" defTabSz="457200" rtl="0" eaLnBrk="1" fontAlgn="auto" latinLnBrk="0" hangingPunct="1">
              <a:lnSpc>
                <a:spcPct val="100000"/>
              </a:lnSpc>
              <a:spcBef>
                <a:spcPts val="1000"/>
              </a:spcBef>
              <a:spcAft>
                <a:spcPts val="0"/>
              </a:spcAft>
              <a:buClr>
                <a:prstClr val="black"/>
              </a:buClr>
              <a:buSzPct val="80000"/>
              <a:buFont typeface="Arial" panose="020B0604020202020204" pitchFamily="34" charset="0"/>
              <a:buChar char="•"/>
              <a:tabLst/>
              <a:defRPr/>
            </a:pPr>
            <a:r>
              <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Disease and pest risk </a:t>
            </a:r>
          </a:p>
          <a:p>
            <a:pPr marL="342900" marR="0" lvl="0" indent="-342900" algn="l" defTabSz="457200" rtl="0" eaLnBrk="1" fontAlgn="auto" latinLnBrk="0" hangingPunct="1">
              <a:lnSpc>
                <a:spcPct val="100000"/>
              </a:lnSpc>
              <a:spcBef>
                <a:spcPts val="1000"/>
              </a:spcBef>
              <a:spcAft>
                <a:spcPts val="0"/>
              </a:spcAft>
              <a:buClr>
                <a:prstClr val="black"/>
              </a:buClr>
              <a:buSzPct val="80000"/>
              <a:buFont typeface="Arial" panose="020B0604020202020204" pitchFamily="34" charset="0"/>
              <a:buChar char="•"/>
              <a:tabLst/>
              <a:defRPr/>
            </a:pPr>
            <a:r>
              <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State and district information</a:t>
            </a:r>
          </a:p>
          <a:p>
            <a:pPr marL="0" marR="0" lvl="0" indent="0" algn="l" defTabSz="457200" rtl="0" eaLnBrk="1" fontAlgn="auto" latinLnBrk="0" hangingPunct="1">
              <a:lnSpc>
                <a:spcPct val="100000"/>
              </a:lnSpc>
              <a:spcBef>
                <a:spcPts val="1000"/>
              </a:spcBef>
              <a:spcAft>
                <a:spcPts val="0"/>
              </a:spcAft>
              <a:buClr>
                <a:prstClr val="black"/>
              </a:buClr>
              <a:buSzPct val="80000"/>
              <a:buFont typeface="Wingdings 3" charset="2"/>
              <a:buNone/>
              <a:tabLst/>
              <a:defRPr/>
            </a:pPr>
            <a:endParaRPr kumimoji="0" lang="en-US" sz="17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p:sp>
        <p:nvSpPr>
          <p:cNvPr id="4" name="Title 3">
            <a:extLst>
              <a:ext uri="{FF2B5EF4-FFF2-40B4-BE49-F238E27FC236}">
                <a16:creationId xmlns:a16="http://schemas.microsoft.com/office/drawing/2014/main" id="{DC79D474-1F5D-F3C8-FB6A-4C5C8C812806}"/>
              </a:ext>
            </a:extLst>
          </p:cNvPr>
          <p:cNvSpPr>
            <a:spLocks noGrp="1"/>
          </p:cNvSpPr>
          <p:nvPr>
            <p:ph type="title"/>
          </p:nvPr>
        </p:nvSpPr>
        <p:spPr>
          <a:xfrm>
            <a:off x="772367" y="329352"/>
            <a:ext cx="4275138" cy="830997"/>
          </a:xfrm>
        </p:spPr>
        <p:txBody>
          <a:bodyPr/>
          <a:lstStyle/>
          <a:p>
            <a:r>
              <a:rPr kumimoji="0" lang="en-GB" sz="3200" b="1" i="0" u="none" strike="noStrike" kern="1200" cap="none" spc="0" normalizeH="0" baseline="0" noProof="0" dirty="0">
                <a:ln>
                  <a:noFill/>
                </a:ln>
                <a:solidFill>
                  <a:prstClr val="black"/>
                </a:solidFill>
                <a:effectLst/>
                <a:uLnTx/>
                <a:uFillTx/>
                <a:latin typeface="Trebuchet MS" panose="020B0603020202020204"/>
                <a:ea typeface="+mj-ea"/>
                <a:cs typeface="+mj-cs"/>
              </a:rPr>
              <a:t>Project Description</a:t>
            </a:r>
            <a:endParaRPr lang="en-US" dirty="0"/>
          </a:p>
        </p:txBody>
      </p:sp>
      <p:sp>
        <p:nvSpPr>
          <p:cNvPr id="5" name="TextBox 4">
            <a:extLst>
              <a:ext uri="{FF2B5EF4-FFF2-40B4-BE49-F238E27FC236}">
                <a16:creationId xmlns:a16="http://schemas.microsoft.com/office/drawing/2014/main" id="{B35654FE-A28A-8B27-3397-4D48C29A5D47}"/>
              </a:ext>
            </a:extLst>
          </p:cNvPr>
          <p:cNvSpPr txBox="1"/>
          <p:nvPr/>
        </p:nvSpPr>
        <p:spPr>
          <a:xfrm>
            <a:off x="660400" y="5476710"/>
            <a:ext cx="7643845" cy="877163"/>
          </a:xfrm>
          <a:prstGeom prst="rect">
            <a:avLst/>
          </a:prstGeom>
          <a:noFill/>
        </p:spPr>
        <p:txBody>
          <a:bodyPr wrap="square" rtlCol="0">
            <a:spAutoFit/>
          </a:bodyPr>
          <a:lstStyle/>
          <a:p>
            <a:pPr algn="just"/>
            <a:r>
              <a:rPr lang="en-US" sz="1700" dirty="0">
                <a:latin typeface="Calibri" panose="020F0502020204030204" pitchFamily="34" charset="0"/>
                <a:ea typeface="Calibri" panose="020F0502020204030204" pitchFamily="34" charset="0"/>
                <a:cs typeface="Calibri" panose="020F0502020204030204" pitchFamily="34" charset="0"/>
              </a:rPr>
              <a:t>The analysis was performed using Python, Pandas, NumPy, Matplotlib and Seaborn.</a:t>
            </a:r>
          </a:p>
          <a:p>
            <a:pPr algn="just"/>
            <a:r>
              <a:rPr lang="en-US" sz="1700" dirty="0">
                <a:latin typeface="Calibri" panose="020F0502020204030204" pitchFamily="34" charset="0"/>
                <a:ea typeface="Calibri" panose="020F0502020204030204" pitchFamily="34" charset="0"/>
                <a:cs typeface="Calibri" panose="020F0502020204030204" pitchFamily="34" charset="0"/>
              </a:rPr>
              <a:t>The objective is to discover seasonal patterns and generate data-driven insights and recommendations.</a:t>
            </a:r>
          </a:p>
        </p:txBody>
      </p:sp>
    </p:spTree>
    <p:extLst>
      <p:ext uri="{BB962C8B-B14F-4D97-AF65-F5344CB8AC3E}">
        <p14:creationId xmlns:p14="http://schemas.microsoft.com/office/powerpoint/2010/main" val="1162933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0127" cy="3990023"/>
          </a:xfrm>
        </p:spPr>
        <p:txBody>
          <a:bodyPr>
            <a:normAutofit fontScale="70000" lnSpcReduction="20000"/>
          </a:bodyPr>
          <a:lstStyle/>
          <a:p>
            <a:pPr lvl="0" algn="jus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Calibri" panose="020F0502020204030204" pitchFamily="34" charset="0"/>
              </a:rPr>
              <a:t>Farmers</a:t>
            </a:r>
            <a:r>
              <a:rPr lang="en-US" sz="3600" dirty="0">
                <a:latin typeface="Calibri" panose="020F0502020204030204" pitchFamily="34" charset="0"/>
                <a:ea typeface="Calibri" panose="020F0502020204030204" pitchFamily="34" charset="0"/>
                <a:cs typeface="Calibri" panose="020F0502020204030204" pitchFamily="34" charset="0"/>
              </a:rPr>
              <a:t> – to understand seasonal crop performance and resource usage. </a:t>
            </a:r>
          </a:p>
          <a:p>
            <a:pPr lvl="0" algn="jus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Calibri" panose="020F0502020204030204" pitchFamily="34" charset="0"/>
              </a:rPr>
              <a:t>Agricultural Planners</a:t>
            </a:r>
            <a:r>
              <a:rPr lang="en-US" sz="3600" dirty="0">
                <a:latin typeface="Calibri" panose="020F0502020204030204" pitchFamily="34" charset="0"/>
                <a:ea typeface="Calibri" panose="020F0502020204030204" pitchFamily="34" charset="0"/>
                <a:cs typeface="Calibri" panose="020F0502020204030204" pitchFamily="34" charset="0"/>
              </a:rPr>
              <a:t> – to support seasonal agricultural planning. </a:t>
            </a:r>
          </a:p>
          <a:p>
            <a:pPr lvl="0" algn="jus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Calibri" panose="020F0502020204030204" pitchFamily="34" charset="0"/>
              </a:rPr>
              <a:t>Government &amp; Agriculture Departments</a:t>
            </a:r>
            <a:r>
              <a:rPr lang="en-US" sz="3600" dirty="0">
                <a:latin typeface="Calibri" panose="020F0502020204030204" pitchFamily="34" charset="0"/>
                <a:ea typeface="Calibri" panose="020F0502020204030204" pitchFamily="34" charset="0"/>
                <a:cs typeface="Calibri" panose="020F0502020204030204" pitchFamily="34" charset="0"/>
              </a:rPr>
              <a:t> – to identify regional and seasonal trends. </a:t>
            </a:r>
          </a:p>
          <a:p>
            <a:pPr lvl="0" algn="jus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Calibri" panose="020F0502020204030204" pitchFamily="34" charset="0"/>
              </a:rPr>
              <a:t>Agricultural Researchers</a:t>
            </a:r>
            <a:r>
              <a:rPr lang="en-US" sz="3600" dirty="0">
                <a:latin typeface="Calibri" panose="020F0502020204030204" pitchFamily="34" charset="0"/>
                <a:ea typeface="Calibri" panose="020F0502020204030204" pitchFamily="34" charset="0"/>
                <a:cs typeface="Calibri" panose="020F0502020204030204" pitchFamily="34" charset="0"/>
              </a:rPr>
              <a:t> – to study relationships between environmental conditions and agricultural outcomes. </a:t>
            </a:r>
          </a:p>
          <a:p>
            <a:pPr lvl="0" algn="jus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Calibri" panose="020F0502020204030204" pitchFamily="34" charset="0"/>
              </a:rPr>
              <a:t>Agribusinesses</a:t>
            </a:r>
            <a:r>
              <a:rPr lang="en-US" sz="3600" dirty="0">
                <a:latin typeface="Calibri" panose="020F0502020204030204" pitchFamily="34" charset="0"/>
                <a:ea typeface="Calibri" panose="020F0502020204030204" pitchFamily="34" charset="0"/>
                <a:cs typeface="Calibri" panose="020F0502020204030204" pitchFamily="34" charset="0"/>
              </a:rPr>
              <a:t> – to understand production, revenue and profitability patterns.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14400" y="1463105"/>
            <a:ext cx="8112034" cy="5243448"/>
          </a:xfrm>
        </p:spPr>
        <p:txBody>
          <a:bodyPr>
            <a:normAutofit fontScale="92500" lnSpcReduction="20000"/>
          </a:bodyPr>
          <a:lstStyle/>
          <a:p>
            <a:pPr marL="457200" lvl="1" indent="0">
              <a:buNone/>
            </a:pPr>
            <a:r>
              <a:rPr lang="en-US" b="1" dirty="0">
                <a:latin typeface="Calibri" panose="020F0502020204030204" pitchFamily="34" charset="0"/>
                <a:ea typeface="Calibri" panose="020F0502020204030204" pitchFamily="34" charset="0"/>
                <a:cs typeface="Calibri" panose="020F0502020204030204" pitchFamily="34" charset="0"/>
              </a:rPr>
              <a:t>Libraries</a:t>
            </a:r>
          </a:p>
          <a:p>
            <a:pPr lvl="1"/>
            <a:r>
              <a:rPr lang="en-IN" dirty="0">
                <a:latin typeface="Calibri" panose="020F0502020204030204" pitchFamily="34" charset="0"/>
                <a:ea typeface="Calibri" panose="020F0502020204030204" pitchFamily="34" charset="0"/>
                <a:cs typeface="Calibri" panose="020F0502020204030204" pitchFamily="34" charset="0"/>
              </a:rPr>
              <a:t>Pandas </a:t>
            </a:r>
          </a:p>
          <a:p>
            <a:pPr lvl="1"/>
            <a:r>
              <a:rPr lang="en-IN" dirty="0">
                <a:latin typeface="Calibri" panose="020F0502020204030204" pitchFamily="34" charset="0"/>
                <a:ea typeface="Calibri" panose="020F0502020204030204" pitchFamily="34" charset="0"/>
                <a:cs typeface="Calibri" panose="020F0502020204030204" pitchFamily="34" charset="0"/>
              </a:rPr>
              <a:t>NumPy </a:t>
            </a:r>
          </a:p>
          <a:p>
            <a:pPr lvl="1"/>
            <a:r>
              <a:rPr lang="en-IN" dirty="0">
                <a:latin typeface="Calibri" panose="020F0502020204030204" pitchFamily="34" charset="0"/>
                <a:ea typeface="Calibri" panose="020F0502020204030204" pitchFamily="34" charset="0"/>
                <a:cs typeface="Calibri" panose="020F0502020204030204" pitchFamily="34" charset="0"/>
              </a:rPr>
              <a:t>Matplotlib </a:t>
            </a:r>
          </a:p>
          <a:p>
            <a:pPr lvl="1"/>
            <a:r>
              <a:rPr lang="en-IN" dirty="0">
                <a:latin typeface="Calibri" panose="020F0502020204030204" pitchFamily="34" charset="0"/>
                <a:ea typeface="Calibri" panose="020F0502020204030204" pitchFamily="34" charset="0"/>
                <a:cs typeface="Calibri" panose="020F0502020204030204" pitchFamily="34" charset="0"/>
              </a:rPr>
              <a:t>Seaborn</a:t>
            </a:r>
          </a:p>
          <a:p>
            <a:pPr marL="457200" lvl="1" indent="0">
              <a:buNone/>
            </a:pPr>
            <a:r>
              <a:rPr lang="en-IN" b="1" dirty="0">
                <a:latin typeface="Calibri" panose="020F0502020204030204" pitchFamily="34" charset="0"/>
                <a:ea typeface="Calibri" panose="020F0502020204030204" pitchFamily="34" charset="0"/>
                <a:cs typeface="Calibri" panose="020F0502020204030204" pitchFamily="34" charset="0"/>
              </a:rPr>
              <a:t>Development Environment</a:t>
            </a:r>
          </a:p>
          <a:p>
            <a:pPr lvl="1"/>
            <a:r>
              <a:rPr lang="en-IN" dirty="0">
                <a:latin typeface="Calibri" panose="020F0502020204030204" pitchFamily="34" charset="0"/>
                <a:ea typeface="Calibri" panose="020F0502020204030204" pitchFamily="34" charset="0"/>
                <a:cs typeface="Calibri" panose="020F0502020204030204" pitchFamily="34" charset="0"/>
              </a:rPr>
              <a:t>Jupyter Notebook</a:t>
            </a:r>
          </a:p>
          <a:p>
            <a:pPr marL="457200" lvl="1" indent="0">
              <a:buNone/>
            </a:pPr>
            <a:r>
              <a:rPr lang="en-US" b="1" dirty="0">
                <a:latin typeface="Calibri" panose="020F0502020204030204" pitchFamily="34" charset="0"/>
                <a:ea typeface="Calibri" panose="020F0502020204030204" pitchFamily="34" charset="0"/>
                <a:cs typeface="Calibri" panose="020F0502020204030204" pitchFamily="34" charset="0"/>
              </a:rPr>
              <a:t>Analysis Techniques</a:t>
            </a:r>
          </a:p>
          <a:p>
            <a:pPr lvl="1"/>
            <a:r>
              <a:rPr lang="en-US" dirty="0">
                <a:latin typeface="Calibri" panose="020F0502020204030204" pitchFamily="34" charset="0"/>
                <a:ea typeface="Calibri" panose="020F0502020204030204" pitchFamily="34" charset="0"/>
                <a:cs typeface="Calibri" panose="020F0502020204030204" pitchFamily="34" charset="0"/>
              </a:rPr>
              <a:t>Data Cleaning </a:t>
            </a:r>
          </a:p>
          <a:p>
            <a:pPr lvl="1"/>
            <a:r>
              <a:rPr lang="en-US" dirty="0">
                <a:latin typeface="Calibri" panose="020F0502020204030204" pitchFamily="34" charset="0"/>
                <a:ea typeface="Calibri" panose="020F0502020204030204" pitchFamily="34" charset="0"/>
                <a:cs typeface="Calibri" panose="020F0502020204030204" pitchFamily="34" charset="0"/>
              </a:rPr>
              <a:t>Exploratory Data Analysis </a:t>
            </a:r>
          </a:p>
          <a:p>
            <a:pPr lvl="1"/>
            <a:r>
              <a:rPr lang="en-US" dirty="0">
                <a:latin typeface="Calibri" panose="020F0502020204030204" pitchFamily="34" charset="0"/>
                <a:ea typeface="Calibri" panose="020F0502020204030204" pitchFamily="34" charset="0"/>
                <a:cs typeface="Calibri" panose="020F0502020204030204" pitchFamily="34" charset="0"/>
              </a:rPr>
              <a:t>Statistical Analysis </a:t>
            </a:r>
          </a:p>
          <a:p>
            <a:pPr lvl="1"/>
            <a:r>
              <a:rPr lang="en-US" dirty="0">
                <a:latin typeface="Calibri" panose="020F0502020204030204" pitchFamily="34" charset="0"/>
                <a:ea typeface="Calibri" panose="020F0502020204030204" pitchFamily="34" charset="0"/>
                <a:cs typeface="Calibri" panose="020F0502020204030204" pitchFamily="34" charset="0"/>
              </a:rPr>
              <a:t>Correlation Analysis </a:t>
            </a:r>
          </a:p>
          <a:p>
            <a:pPr lvl="1"/>
            <a:r>
              <a:rPr lang="en-US" dirty="0">
                <a:latin typeface="Calibri" panose="020F0502020204030204" pitchFamily="34" charset="0"/>
                <a:ea typeface="Calibri" panose="020F0502020204030204" pitchFamily="34" charset="0"/>
                <a:cs typeface="Calibri" panose="020F0502020204030204" pitchFamily="34" charset="0"/>
              </a:rPr>
              <a:t>Data Visualization </a:t>
            </a:r>
          </a:p>
          <a:p>
            <a:pPr lvl="1"/>
            <a:r>
              <a:rPr lang="en-US" dirty="0">
                <a:latin typeface="Calibri" panose="020F0502020204030204" pitchFamily="34" charset="0"/>
                <a:ea typeface="Calibri" panose="020F0502020204030204" pitchFamily="34" charset="0"/>
                <a:cs typeface="Calibri" panose="020F0502020204030204" pitchFamily="34" charset="0"/>
              </a:rPr>
              <a:t>Comparative Analysis</a:t>
            </a:r>
          </a:p>
          <a:p>
            <a:pPr lvl="1"/>
            <a:endParaRPr lang="en-IN"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3600" dirty="0"/>
              <a:t>Technology</a:t>
            </a:r>
            <a:r>
              <a:rPr lang="en-US" sz="3200" dirty="0"/>
              <a:t>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7">
                                            <p:txEl>
                                              <p:pRg st="9" end="9"/>
                                            </p:txEl>
                                          </p:spTgt>
                                        </p:tgtEl>
                                        <p:attrNameLst>
                                          <p:attrName>style.visibility</p:attrName>
                                        </p:attrNameLst>
                                      </p:cBhvr>
                                      <p:to>
                                        <p:strVal val="visible"/>
                                      </p:to>
                                    </p:set>
                                    <p:animEffect transition="in" filter="fade">
                                      <p:cBhvr>
                                        <p:cTn id="59" dur="1000"/>
                                        <p:tgtEl>
                                          <p:spTgt spid="7">
                                            <p:txEl>
                                              <p:pRg st="9" end="9"/>
                                            </p:txEl>
                                          </p:spTgt>
                                        </p:tgtEl>
                                      </p:cBhvr>
                                    </p:animEffect>
                                    <p:anim calcmode="lin" valueType="num">
                                      <p:cBhvr>
                                        <p:cTn id="6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7">
                                            <p:txEl>
                                              <p:pRg st="10" end="10"/>
                                            </p:txEl>
                                          </p:spTgt>
                                        </p:tgtEl>
                                        <p:attrNameLst>
                                          <p:attrName>style.visibility</p:attrName>
                                        </p:attrNameLst>
                                      </p:cBhvr>
                                      <p:to>
                                        <p:strVal val="visible"/>
                                      </p:to>
                                    </p:set>
                                    <p:animEffect transition="in" filter="fade">
                                      <p:cBhvr>
                                        <p:cTn id="64" dur="1000"/>
                                        <p:tgtEl>
                                          <p:spTgt spid="7">
                                            <p:txEl>
                                              <p:pRg st="10" end="10"/>
                                            </p:txEl>
                                          </p:spTgt>
                                        </p:tgtEl>
                                      </p:cBhvr>
                                    </p:animEffect>
                                    <p:anim calcmode="lin" valueType="num">
                                      <p:cBhvr>
                                        <p:cTn id="6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7">
                                            <p:txEl>
                                              <p:pRg st="11" end="11"/>
                                            </p:txEl>
                                          </p:spTgt>
                                        </p:tgtEl>
                                        <p:attrNameLst>
                                          <p:attrName>style.visibility</p:attrName>
                                        </p:attrNameLst>
                                      </p:cBhvr>
                                      <p:to>
                                        <p:strVal val="visible"/>
                                      </p:to>
                                    </p:set>
                                    <p:animEffect transition="in" filter="fade">
                                      <p:cBhvr>
                                        <p:cTn id="69" dur="1000"/>
                                        <p:tgtEl>
                                          <p:spTgt spid="7">
                                            <p:txEl>
                                              <p:pRg st="11" end="11"/>
                                            </p:txEl>
                                          </p:spTgt>
                                        </p:tgtEl>
                                      </p:cBhvr>
                                    </p:animEffect>
                                    <p:anim calcmode="lin" valueType="num">
                                      <p:cBhvr>
                                        <p:cTn id="70"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71"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7">
                                            <p:txEl>
                                              <p:pRg st="12" end="12"/>
                                            </p:txEl>
                                          </p:spTgt>
                                        </p:tgtEl>
                                        <p:attrNameLst>
                                          <p:attrName>style.visibility</p:attrName>
                                        </p:attrNameLst>
                                      </p:cBhvr>
                                      <p:to>
                                        <p:strVal val="visible"/>
                                      </p:to>
                                    </p:set>
                                    <p:animEffect transition="in" filter="fade">
                                      <p:cBhvr>
                                        <p:cTn id="74" dur="1000"/>
                                        <p:tgtEl>
                                          <p:spTgt spid="7">
                                            <p:txEl>
                                              <p:pRg st="12" end="12"/>
                                            </p:txEl>
                                          </p:spTgt>
                                        </p:tgtEl>
                                      </p:cBhvr>
                                    </p:animEffect>
                                    <p:anim calcmode="lin" valueType="num">
                                      <p:cBhvr>
                                        <p:cTn id="75"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76"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7">
                                            <p:txEl>
                                              <p:pRg st="13" end="13"/>
                                            </p:txEl>
                                          </p:spTgt>
                                        </p:tgtEl>
                                        <p:attrNameLst>
                                          <p:attrName>style.visibility</p:attrName>
                                        </p:attrNameLst>
                                      </p:cBhvr>
                                      <p:to>
                                        <p:strVal val="visible"/>
                                      </p:to>
                                    </p:set>
                                    <p:animEffect transition="in" filter="fade">
                                      <p:cBhvr>
                                        <p:cTn id="79" dur="1000"/>
                                        <p:tgtEl>
                                          <p:spTgt spid="7">
                                            <p:txEl>
                                              <p:pRg st="13" end="13"/>
                                            </p:txEl>
                                          </p:spTgt>
                                        </p:tgtEl>
                                      </p:cBhvr>
                                    </p:animEffect>
                                    <p:anim calcmode="lin" valueType="num">
                                      <p:cBhvr>
                                        <p:cTn id="8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81"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8281431" cy="830997"/>
          </a:xfrm>
        </p:spPr>
        <p:txBody>
          <a:bodyPr>
            <a:normAutofit/>
          </a:bodyPr>
          <a:lstStyle/>
          <a:p>
            <a:r>
              <a:rPr lang="en-GB" sz="3200" dirty="0"/>
              <a:t>RESULTS</a:t>
            </a:r>
            <a:r>
              <a:rPr lang="en-GB" dirty="0"/>
              <a:t>: </a:t>
            </a:r>
            <a:r>
              <a:rPr lang="en-GB" sz="3600" dirty="0"/>
              <a:t>SEASONAL PERFORMANCE</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8A0387AF-B91E-D76B-8439-0B2C840510CC}"/>
              </a:ext>
            </a:extLst>
          </p:cNvPr>
          <p:cNvPicPr>
            <a:picLocks noChangeAspect="1"/>
          </p:cNvPicPr>
          <p:nvPr/>
        </p:nvPicPr>
        <p:blipFill>
          <a:blip r:embed="rId3"/>
          <a:stretch>
            <a:fillRect/>
          </a:stretch>
        </p:blipFill>
        <p:spPr>
          <a:xfrm>
            <a:off x="514599" y="1201586"/>
            <a:ext cx="6082145" cy="4938817"/>
          </a:xfrm>
          <a:prstGeom prst="rect">
            <a:avLst/>
          </a:prstGeom>
        </p:spPr>
      </p:pic>
      <p:sp>
        <p:nvSpPr>
          <p:cNvPr id="20" name="TextBox 19">
            <a:extLst>
              <a:ext uri="{FF2B5EF4-FFF2-40B4-BE49-F238E27FC236}">
                <a16:creationId xmlns:a16="http://schemas.microsoft.com/office/drawing/2014/main" id="{EB2AB6BA-1AF4-17DC-CCE3-4F233EE39E0E}"/>
              </a:ext>
            </a:extLst>
          </p:cNvPr>
          <p:cNvSpPr txBox="1"/>
          <p:nvPr/>
        </p:nvSpPr>
        <p:spPr>
          <a:xfrm>
            <a:off x="6704185" y="2551837"/>
            <a:ext cx="4679162" cy="1754326"/>
          </a:xfrm>
          <a:prstGeom prst="rect">
            <a:avLst/>
          </a:prstGeom>
          <a:noFill/>
        </p:spPr>
        <p:txBody>
          <a:bodyPr wrap="square">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Kharif records the highest average yield at approximately 5.6 tonnes/ha, followed by Rabi at 5.0 tonnes/ha and Zaid at 4.6 tonnes/ha. This highlights clear seasonal variation in agricultural productivity, with Kharif showing the strongest overall performance.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10446133" cy="830997"/>
          </a:xfrm>
        </p:spPr>
        <p:txBody>
          <a:bodyPr>
            <a:normAutofit/>
          </a:bodyPr>
          <a:lstStyle/>
          <a:p>
            <a:r>
              <a:rPr lang="en-GB" sz="3200" dirty="0"/>
              <a:t>RESULTS :PRODUCTION AND PROFITABILITY</a:t>
            </a:r>
            <a:endParaRPr lang="en-IN" sz="32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12750" y="1235150"/>
            <a:ext cx="10809448" cy="477520"/>
          </a:xfrm>
        </p:spPr>
        <p:txBody>
          <a:bodyPr>
            <a:normAutofit/>
          </a:bodyPr>
          <a:lstStyle/>
          <a:p>
            <a:pPr marL="0" indent="0" algn="ctr">
              <a:buNone/>
            </a:pPr>
            <a:r>
              <a:rPr lang="en-IN" sz="1600" b="1" dirty="0"/>
              <a:t>                  </a:t>
            </a:r>
          </a:p>
        </p:txBody>
      </p:sp>
      <p:pic>
        <p:nvPicPr>
          <p:cNvPr id="3" name="Picture 2">
            <a:extLst>
              <a:ext uri="{FF2B5EF4-FFF2-40B4-BE49-F238E27FC236}">
                <a16:creationId xmlns:a16="http://schemas.microsoft.com/office/drawing/2014/main" id="{13D5550C-0DE5-E767-CD5D-0E20C0C8915B}"/>
              </a:ext>
            </a:extLst>
          </p:cNvPr>
          <p:cNvPicPr>
            <a:picLocks noChangeAspect="1"/>
          </p:cNvPicPr>
          <p:nvPr/>
        </p:nvPicPr>
        <p:blipFill>
          <a:blip r:embed="rId3"/>
          <a:stretch>
            <a:fillRect/>
          </a:stretch>
        </p:blipFill>
        <p:spPr>
          <a:xfrm>
            <a:off x="136118" y="1107516"/>
            <a:ext cx="5881356" cy="4113390"/>
          </a:xfrm>
          <a:prstGeom prst="rect">
            <a:avLst/>
          </a:prstGeom>
        </p:spPr>
      </p:pic>
      <p:pic>
        <p:nvPicPr>
          <p:cNvPr id="6" name="Picture 5">
            <a:extLst>
              <a:ext uri="{FF2B5EF4-FFF2-40B4-BE49-F238E27FC236}">
                <a16:creationId xmlns:a16="http://schemas.microsoft.com/office/drawing/2014/main" id="{7BC6D3A8-5B4B-AF82-5FD7-6306DACE5BEA}"/>
              </a:ext>
            </a:extLst>
          </p:cNvPr>
          <p:cNvPicPr>
            <a:picLocks noChangeAspect="1"/>
          </p:cNvPicPr>
          <p:nvPr/>
        </p:nvPicPr>
        <p:blipFill>
          <a:blip r:embed="rId4"/>
          <a:stretch>
            <a:fillRect/>
          </a:stretch>
        </p:blipFill>
        <p:spPr>
          <a:xfrm>
            <a:off x="6017474" y="1107516"/>
            <a:ext cx="5785767" cy="4016326"/>
          </a:xfrm>
          <a:prstGeom prst="rect">
            <a:avLst/>
          </a:prstGeom>
        </p:spPr>
      </p:pic>
      <p:sp>
        <p:nvSpPr>
          <p:cNvPr id="9" name="TextBox 8">
            <a:extLst>
              <a:ext uri="{FF2B5EF4-FFF2-40B4-BE49-F238E27FC236}">
                <a16:creationId xmlns:a16="http://schemas.microsoft.com/office/drawing/2014/main" id="{6B68724F-92F4-73AC-5D8D-0495C6E81C80}"/>
              </a:ext>
            </a:extLst>
          </p:cNvPr>
          <p:cNvSpPr txBox="1"/>
          <p:nvPr/>
        </p:nvSpPr>
        <p:spPr>
          <a:xfrm>
            <a:off x="702025" y="5357668"/>
            <a:ext cx="11101216" cy="1200329"/>
          </a:xfrm>
          <a:prstGeom prst="rect">
            <a:avLst/>
          </a:prstGeom>
          <a:noFill/>
        </p:spPr>
        <p:txBody>
          <a:bodyPr wrap="square" rtlCol="0">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Kharif records the highest total production (82,388 tonnes) and the highest average profit (₹178,915). Rabi remains profitable on average (₹87,689), while Zaid records a negative average profit of ₹24,805. This shows that profitability varies substantially by season</a:t>
            </a:r>
            <a:r>
              <a:rPr lang="en-US" dirty="0"/>
              <a:t>.</a:t>
            </a:r>
          </a:p>
          <a:p>
            <a:endParaRPr lang="en-US"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517337" y="258621"/>
            <a:ext cx="10194206" cy="830997"/>
          </a:xfrm>
        </p:spPr>
        <p:txBody>
          <a:bodyPr>
            <a:normAutofit/>
          </a:bodyPr>
          <a:lstStyle/>
          <a:p>
            <a:r>
              <a:rPr lang="en-GB" sz="3200" dirty="0"/>
              <a:t>RESULTS : SEASONAL CONDITIONS AND YIELD</a:t>
            </a:r>
            <a:endParaRPr lang="en-IN" sz="32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517337" y="1275371"/>
            <a:ext cx="3343561" cy="477520"/>
          </a:xfrm>
        </p:spPr>
        <p:txBody>
          <a:bodyPr>
            <a:normAutofit/>
          </a:bodyPr>
          <a:lstStyle/>
          <a:p>
            <a:pPr marL="0" indent="0" algn="ctr">
              <a:buNone/>
            </a:pPr>
            <a:endParaRPr lang="en-IN" sz="1600" b="1" dirty="0"/>
          </a:p>
        </p:txBody>
      </p:sp>
      <p:pic>
        <p:nvPicPr>
          <p:cNvPr id="3" name="Picture 2">
            <a:extLst>
              <a:ext uri="{FF2B5EF4-FFF2-40B4-BE49-F238E27FC236}">
                <a16:creationId xmlns:a16="http://schemas.microsoft.com/office/drawing/2014/main" id="{68E85347-1617-BAF1-0914-66B57C8C143B}"/>
              </a:ext>
            </a:extLst>
          </p:cNvPr>
          <p:cNvPicPr>
            <a:picLocks noChangeAspect="1"/>
          </p:cNvPicPr>
          <p:nvPr/>
        </p:nvPicPr>
        <p:blipFill>
          <a:blip r:embed="rId3"/>
          <a:stretch>
            <a:fillRect/>
          </a:stretch>
        </p:blipFill>
        <p:spPr>
          <a:xfrm>
            <a:off x="227317" y="1089617"/>
            <a:ext cx="5790157" cy="4378031"/>
          </a:xfrm>
          <a:prstGeom prst="rect">
            <a:avLst/>
          </a:prstGeom>
        </p:spPr>
      </p:pic>
      <p:sp>
        <p:nvSpPr>
          <p:cNvPr id="14" name="TextBox 13">
            <a:extLst>
              <a:ext uri="{FF2B5EF4-FFF2-40B4-BE49-F238E27FC236}">
                <a16:creationId xmlns:a16="http://schemas.microsoft.com/office/drawing/2014/main" id="{B7FBD832-E3E8-262A-86E5-44AA24F4FB08}"/>
              </a:ext>
            </a:extLst>
          </p:cNvPr>
          <p:cNvSpPr txBox="1"/>
          <p:nvPr/>
        </p:nvSpPr>
        <p:spPr>
          <a:xfrm>
            <a:off x="625672" y="5582629"/>
            <a:ext cx="10940656" cy="923330"/>
          </a:xfrm>
          <a:prstGeom prst="rect">
            <a:avLst/>
          </a:prstGeom>
          <a:noFill/>
        </p:spPr>
        <p:txBody>
          <a:bodyPr wrap="square" rtlCol="0">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Kharif has the highest average rainfall (852 mm), followed by Rabi (436 mm) and Zaid (299 mm). The correlation between rainfall and yield is 0.03, indicating a very weak linear relationship in this dataset. Therefore, rainfall alone does not explain yield variation.</a:t>
            </a:r>
          </a:p>
        </p:txBody>
      </p:sp>
      <p:pic>
        <p:nvPicPr>
          <p:cNvPr id="16" name="Picture 15">
            <a:extLst>
              <a:ext uri="{FF2B5EF4-FFF2-40B4-BE49-F238E27FC236}">
                <a16:creationId xmlns:a16="http://schemas.microsoft.com/office/drawing/2014/main" id="{526BD23D-5725-CA83-7C39-43C7BD36CAE1}"/>
              </a:ext>
            </a:extLst>
          </p:cNvPr>
          <p:cNvPicPr>
            <a:picLocks noChangeAspect="1"/>
          </p:cNvPicPr>
          <p:nvPr/>
        </p:nvPicPr>
        <p:blipFill>
          <a:blip r:embed="rId4"/>
          <a:stretch>
            <a:fillRect/>
          </a:stretch>
        </p:blipFill>
        <p:spPr>
          <a:xfrm>
            <a:off x="6017474" y="1089617"/>
            <a:ext cx="5696491" cy="437803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11015300" cy="830997"/>
          </a:xfrm>
        </p:spPr>
        <p:txBody>
          <a:bodyPr>
            <a:noAutofit/>
          </a:bodyPr>
          <a:lstStyle/>
          <a:p>
            <a:r>
              <a:rPr lang="en-GB" sz="3200" dirty="0"/>
              <a:t>RESULTS : IRRIGATION AND WATER EFFICIENCY</a:t>
            </a:r>
            <a:endParaRPr lang="en-IN" sz="32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1B31EAD-FBCB-FF04-1B5C-F66D29CA277B}"/>
              </a:ext>
            </a:extLst>
          </p:cNvPr>
          <p:cNvPicPr>
            <a:picLocks noChangeAspect="1"/>
          </p:cNvPicPr>
          <p:nvPr/>
        </p:nvPicPr>
        <p:blipFill>
          <a:blip r:embed="rId3"/>
          <a:stretch>
            <a:fillRect/>
          </a:stretch>
        </p:blipFill>
        <p:spPr>
          <a:xfrm>
            <a:off x="320982" y="1377843"/>
            <a:ext cx="5547973" cy="3830092"/>
          </a:xfrm>
          <a:prstGeom prst="rect">
            <a:avLst/>
          </a:prstGeom>
        </p:spPr>
      </p:pic>
      <p:pic>
        <p:nvPicPr>
          <p:cNvPr id="9" name="Picture 8">
            <a:extLst>
              <a:ext uri="{FF2B5EF4-FFF2-40B4-BE49-F238E27FC236}">
                <a16:creationId xmlns:a16="http://schemas.microsoft.com/office/drawing/2014/main" id="{A5AD0D86-A799-0BC8-C15A-CDFF59FF20E1}"/>
              </a:ext>
            </a:extLst>
          </p:cNvPr>
          <p:cNvPicPr>
            <a:picLocks noChangeAspect="1"/>
          </p:cNvPicPr>
          <p:nvPr/>
        </p:nvPicPr>
        <p:blipFill>
          <a:blip r:embed="rId4"/>
          <a:stretch>
            <a:fillRect/>
          </a:stretch>
        </p:blipFill>
        <p:spPr>
          <a:xfrm>
            <a:off x="6017474" y="1389705"/>
            <a:ext cx="5473328" cy="3704751"/>
          </a:xfrm>
          <a:prstGeom prst="rect">
            <a:avLst/>
          </a:prstGeom>
        </p:spPr>
      </p:pic>
      <p:sp>
        <p:nvSpPr>
          <p:cNvPr id="12" name="TextBox 11">
            <a:extLst>
              <a:ext uri="{FF2B5EF4-FFF2-40B4-BE49-F238E27FC236}">
                <a16:creationId xmlns:a16="http://schemas.microsoft.com/office/drawing/2014/main" id="{5358E812-87F8-AD5F-22AA-F982CF40A412}"/>
              </a:ext>
            </a:extLst>
          </p:cNvPr>
          <p:cNvSpPr txBox="1"/>
          <p:nvPr/>
        </p:nvSpPr>
        <p:spPr>
          <a:xfrm>
            <a:off x="675957" y="5384193"/>
            <a:ext cx="10880032" cy="923330"/>
          </a:xfrm>
          <a:prstGeom prst="rect">
            <a:avLst/>
          </a:prstGeom>
          <a:noFill/>
        </p:spPr>
        <p:txBody>
          <a:bodyPr wrap="square" rtlCol="0">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Drip irrigation records the highest average yield at 6.58 tonnes/ha. Average water efficiency is highest in Kharif (5.89 t/1000 m³), followed by Rabi (5.19) and Zaid (4.41). The results show that irrigation practices and seasonal conditions are important dimensions for evaluating agricultural resource performance.</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11164590" cy="830997"/>
          </a:xfrm>
        </p:spPr>
        <p:txBody>
          <a:bodyPr>
            <a:normAutofit/>
          </a:bodyPr>
          <a:lstStyle/>
          <a:p>
            <a:r>
              <a:rPr lang="en-GB" sz="3200" dirty="0"/>
              <a:t>RESULTS:ECONOMIC AND REGIONAL ANALYSIS </a:t>
            </a:r>
            <a:endParaRPr lang="en-IN" sz="32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466531" y="1369650"/>
            <a:ext cx="10982130" cy="477520"/>
          </a:xfrm>
        </p:spPr>
        <p:txBody>
          <a:bodyPr>
            <a:normAutofit/>
          </a:bodyPr>
          <a:lstStyle/>
          <a:p>
            <a:pPr marL="0" indent="0" algn="ctr">
              <a:buNone/>
            </a:pPr>
            <a:r>
              <a:rPr lang="en-US" dirty="0"/>
              <a:t>Economic Comparison                                                          Regional Comparison                       </a:t>
            </a:r>
            <a:endParaRPr lang="en-IN" dirty="0"/>
          </a:p>
        </p:txBody>
      </p:sp>
      <p:pic>
        <p:nvPicPr>
          <p:cNvPr id="3" name="Picture 2">
            <a:extLst>
              <a:ext uri="{FF2B5EF4-FFF2-40B4-BE49-F238E27FC236}">
                <a16:creationId xmlns:a16="http://schemas.microsoft.com/office/drawing/2014/main" id="{C302E91E-B627-2C4D-DD43-C023A001D82F}"/>
              </a:ext>
            </a:extLst>
          </p:cNvPr>
          <p:cNvPicPr>
            <a:picLocks noChangeAspect="1"/>
          </p:cNvPicPr>
          <p:nvPr/>
        </p:nvPicPr>
        <p:blipFill>
          <a:blip r:embed="rId3"/>
          <a:stretch>
            <a:fillRect/>
          </a:stretch>
        </p:blipFill>
        <p:spPr>
          <a:xfrm>
            <a:off x="149289" y="1847170"/>
            <a:ext cx="5719666" cy="3546901"/>
          </a:xfrm>
          <a:prstGeom prst="rect">
            <a:avLst/>
          </a:prstGeom>
        </p:spPr>
      </p:pic>
      <p:pic>
        <p:nvPicPr>
          <p:cNvPr id="9" name="Picture 8">
            <a:extLst>
              <a:ext uri="{FF2B5EF4-FFF2-40B4-BE49-F238E27FC236}">
                <a16:creationId xmlns:a16="http://schemas.microsoft.com/office/drawing/2014/main" id="{B5D01F99-F09D-E911-12E4-4E780A994DD7}"/>
              </a:ext>
            </a:extLst>
          </p:cNvPr>
          <p:cNvPicPr>
            <a:picLocks noChangeAspect="1"/>
          </p:cNvPicPr>
          <p:nvPr/>
        </p:nvPicPr>
        <p:blipFill>
          <a:blip r:embed="rId4"/>
          <a:stretch>
            <a:fillRect/>
          </a:stretch>
        </p:blipFill>
        <p:spPr>
          <a:xfrm>
            <a:off x="6017474" y="1881604"/>
            <a:ext cx="5719667" cy="3666592"/>
          </a:xfrm>
          <a:prstGeom prst="rect">
            <a:avLst/>
          </a:prstGeom>
        </p:spPr>
      </p:pic>
      <p:sp>
        <p:nvSpPr>
          <p:cNvPr id="2" name="TextBox 1">
            <a:extLst>
              <a:ext uri="{FF2B5EF4-FFF2-40B4-BE49-F238E27FC236}">
                <a16:creationId xmlns:a16="http://schemas.microsoft.com/office/drawing/2014/main" id="{A5FB06C0-A47F-DB9E-19DF-E5A108681B3A}"/>
              </a:ext>
            </a:extLst>
          </p:cNvPr>
          <p:cNvSpPr txBox="1"/>
          <p:nvPr/>
        </p:nvSpPr>
        <p:spPr>
          <a:xfrm>
            <a:off x="382169" y="5965870"/>
            <a:ext cx="11270610" cy="646331"/>
          </a:xfrm>
          <a:prstGeom prst="rect">
            <a:avLst/>
          </a:prstGeom>
          <a:noFill/>
        </p:spPr>
        <p:txBody>
          <a:bodyPr wrap="square" rtlCol="0">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Kharif demonstrates the strongest economic performance, while Zaid records a negative average profit. Punjab has the highest average yield, highlighting regional differences in agricultural productivity.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74C71F-F516-FFBD-70DB-15853B68E01E}"/>
              </a:ext>
            </a:extLst>
          </p:cNvPr>
          <p:cNvSpPr>
            <a:spLocks noGrp="1"/>
          </p:cNvSpPr>
          <p:nvPr>
            <p:ph type="body" sz="quarter" idx="12"/>
          </p:nvPr>
        </p:nvSpPr>
        <p:spPr/>
        <p:txBody>
          <a:bodyPr/>
          <a:lstStyle/>
          <a:p>
            <a:endParaRPr lang="en-US" dirty="0"/>
          </a:p>
        </p:txBody>
      </p:sp>
      <p:sp>
        <p:nvSpPr>
          <p:cNvPr id="4" name="Title 3">
            <a:extLst>
              <a:ext uri="{FF2B5EF4-FFF2-40B4-BE49-F238E27FC236}">
                <a16:creationId xmlns:a16="http://schemas.microsoft.com/office/drawing/2014/main" id="{BB06D6B6-1BF2-C91B-EA51-F9DA91D53218}"/>
              </a:ext>
            </a:extLst>
          </p:cNvPr>
          <p:cNvSpPr>
            <a:spLocks noGrp="1"/>
          </p:cNvSpPr>
          <p:nvPr>
            <p:ph type="title"/>
          </p:nvPr>
        </p:nvSpPr>
        <p:spPr>
          <a:xfrm>
            <a:off x="595084" y="370682"/>
            <a:ext cx="10685626" cy="830997"/>
          </a:xfrm>
        </p:spPr>
        <p:txBody>
          <a:bodyPr>
            <a:noAutofit/>
          </a:bodyPr>
          <a:lstStyle/>
          <a:p>
            <a:r>
              <a:rPr lang="en-US" sz="3200" dirty="0"/>
              <a:t>CORRELATION ANALYSIS OF AGRICULTURAL VARIABLES</a:t>
            </a:r>
          </a:p>
        </p:txBody>
      </p:sp>
      <p:pic>
        <p:nvPicPr>
          <p:cNvPr id="6" name="Picture 5">
            <a:extLst>
              <a:ext uri="{FF2B5EF4-FFF2-40B4-BE49-F238E27FC236}">
                <a16:creationId xmlns:a16="http://schemas.microsoft.com/office/drawing/2014/main" id="{09B853F4-845A-632B-7189-3CE8CC446236}"/>
              </a:ext>
            </a:extLst>
          </p:cNvPr>
          <p:cNvPicPr>
            <a:picLocks noChangeAspect="1"/>
          </p:cNvPicPr>
          <p:nvPr/>
        </p:nvPicPr>
        <p:blipFill>
          <a:blip r:embed="rId2"/>
          <a:stretch>
            <a:fillRect/>
          </a:stretch>
        </p:blipFill>
        <p:spPr>
          <a:xfrm>
            <a:off x="595084" y="1041480"/>
            <a:ext cx="10476649" cy="4775039"/>
          </a:xfrm>
          <a:prstGeom prst="rect">
            <a:avLst/>
          </a:prstGeom>
        </p:spPr>
      </p:pic>
      <p:sp>
        <p:nvSpPr>
          <p:cNvPr id="7" name="TextBox 6">
            <a:extLst>
              <a:ext uri="{FF2B5EF4-FFF2-40B4-BE49-F238E27FC236}">
                <a16:creationId xmlns:a16="http://schemas.microsoft.com/office/drawing/2014/main" id="{040D42F1-E244-3898-32E0-B753983B3E80}"/>
              </a:ext>
            </a:extLst>
          </p:cNvPr>
          <p:cNvSpPr txBox="1"/>
          <p:nvPr/>
        </p:nvSpPr>
        <p:spPr>
          <a:xfrm>
            <a:off x="790212" y="5525154"/>
            <a:ext cx="10086392" cy="923330"/>
          </a:xfrm>
          <a:prstGeom prst="rect">
            <a:avLst/>
          </a:prstGeom>
          <a:noFill/>
        </p:spPr>
        <p:txBody>
          <a:bodyPr wrap="square" rtlCol="0">
            <a:sp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The correlation analysis shows strong positive relationships between yield, production and water efficiency, while rainfall, temperature and soil moisture have weaker relationships with yield. This helps identify the variables most closely associated with agricultural performance.</a:t>
            </a:r>
          </a:p>
        </p:txBody>
      </p:sp>
    </p:spTree>
    <p:extLst>
      <p:ext uri="{BB962C8B-B14F-4D97-AF65-F5344CB8AC3E}">
        <p14:creationId xmlns:p14="http://schemas.microsoft.com/office/powerpoint/2010/main" val="2263779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574147"/>
            <a:ext cx="4735798" cy="830997"/>
          </a:xfrm>
        </p:spPr>
        <p:txBody>
          <a:bodyPr>
            <a:normAutofit fontScale="90000"/>
          </a:bodyPr>
          <a:lstStyle/>
          <a:p>
            <a:r>
              <a:rPr lang="en-IN" sz="4000" dirty="0"/>
              <a:t>Future scope</a:t>
            </a:r>
            <a:br>
              <a:rPr lang="en-IN" sz="4000" dirty="0"/>
            </a:br>
            <a:endParaRPr lang="en-IN" sz="40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2090057"/>
            <a:ext cx="9410847" cy="409613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lvl="0" indent="-34290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Develop a real-time agricultural performance dashboard. </a:t>
            </a:r>
          </a:p>
          <a:p>
            <a:pPr marL="342900" lvl="0" indent="-34290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Include weather forecasting and future seasonal predictions. </a:t>
            </a:r>
          </a:p>
          <a:p>
            <a:pPr marL="342900" lvl="0" indent="-34290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Apply Machine Learning for crop yield prediction. </a:t>
            </a:r>
          </a:p>
          <a:p>
            <a:pPr marL="342900" lvl="0" indent="-34290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Predict crop profitability based on seasonal conditions. </a:t>
            </a:r>
          </a:p>
          <a:p>
            <a:pPr marL="342900" lvl="0" indent="-34290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Provide region-specific crop recommendations. </a:t>
            </a:r>
          </a:p>
          <a:p>
            <a:pPr marL="342900" lvl="0" indent="-34290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Integrate real-time rainfall, soil and weather data. </a:t>
            </a:r>
          </a:p>
          <a:p>
            <a:pPr marL="342900" lvl="0" indent="-342900" algn="just">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Develop an interactive decision-support system for farmers and agricultural planners. </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hlinkClick r:id="rId3"/>
            <a:extLst>
              <a:ext uri="{FF2B5EF4-FFF2-40B4-BE49-F238E27FC236}">
                <a16:creationId xmlns:a16="http://schemas.microsoft.com/office/drawing/2014/main" id="{87F7365A-64E8-7F65-7F4A-750A8E083D57}"/>
              </a:ext>
            </a:extLst>
          </p:cNvPr>
          <p:cNvSpPr txBox="1"/>
          <p:nvPr/>
        </p:nvSpPr>
        <p:spPr>
          <a:xfrm>
            <a:off x="1496008" y="2168108"/>
            <a:ext cx="9199984" cy="369332"/>
          </a:xfrm>
          <a:prstGeom prst="rect">
            <a:avLst/>
          </a:prstGeom>
          <a:noFill/>
        </p:spPr>
        <p:txBody>
          <a:bodyPr wrap="square">
            <a:spAutoFit/>
          </a:bodyPr>
          <a:lstStyle/>
          <a:p>
            <a:r>
              <a:rPr lang="en-US" u="sng" dirty="0">
                <a:solidFill>
                  <a:schemeClr val="accent1">
                    <a:lumMod val="50000"/>
                  </a:schemeClr>
                </a:solidFill>
              </a:rPr>
              <a:t>https://github.com/shravi323/seasonal-agriculture-performance-analysis</a:t>
            </a:r>
          </a:p>
        </p:txBody>
      </p:sp>
      <p:sp>
        <p:nvSpPr>
          <p:cNvPr id="2" name="TextBox 1">
            <a:extLst>
              <a:ext uri="{FF2B5EF4-FFF2-40B4-BE49-F238E27FC236}">
                <a16:creationId xmlns:a16="http://schemas.microsoft.com/office/drawing/2014/main" id="{594DAE0A-291F-ACBC-FBE4-48A31712B08E}"/>
              </a:ext>
            </a:extLst>
          </p:cNvPr>
          <p:cNvSpPr txBox="1"/>
          <p:nvPr/>
        </p:nvSpPr>
        <p:spPr>
          <a:xfrm>
            <a:off x="1418252" y="3134630"/>
            <a:ext cx="8938727" cy="369332"/>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 repository contains the project notebook, dataset and project documentation</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391886" y="370589"/>
            <a:ext cx="11560627" cy="666078"/>
          </a:xfrm>
        </p:spPr>
        <p:txBody>
          <a:bodyPr>
            <a:noAutofit/>
          </a:bodyPr>
          <a:lstStyle/>
          <a:p>
            <a:r>
              <a:rPr lang="en-IN" sz="2000" dirty="0"/>
              <a:t>VOIS Course completion certificate - 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3B180675-D4E6-B24E-F61E-F822235C3632}"/>
              </a:ext>
            </a:extLst>
          </p:cNvPr>
          <p:cNvPicPr>
            <a:picLocks noChangeAspect="1"/>
          </p:cNvPicPr>
          <p:nvPr/>
        </p:nvPicPr>
        <p:blipFill>
          <a:blip r:embed="rId3"/>
          <a:stretch>
            <a:fillRect/>
          </a:stretch>
        </p:blipFill>
        <p:spPr>
          <a:xfrm>
            <a:off x="1101012" y="958150"/>
            <a:ext cx="8752114" cy="563859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1901502"/>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422350" y="3564982"/>
            <a:ext cx="5347300" cy="344312"/>
          </a:xfrm>
        </p:spPr>
        <p:txBody>
          <a:bodyPr>
            <a:noAutofit/>
          </a:bodyPr>
          <a:lstStyle/>
          <a:p>
            <a:r>
              <a:rPr lang="en-IN" sz="1800" dirty="0"/>
              <a:t>Seasonal Agriculture Performance Analysis</a:t>
            </a:r>
          </a:p>
          <a:p>
            <a:r>
              <a:rPr lang="en-IN" sz="1800" dirty="0"/>
              <a:t>- Shravani Waghawale</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4035</TotalTime>
  <Words>680</Words>
  <Application>Microsoft Office PowerPoint</Application>
  <PresentationFormat>Widescreen</PresentationFormat>
  <Paragraphs>73</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Seasonal Agriculture Performance Analysis </vt:lpstr>
      <vt:lpstr>PROBLEM  STATEMENT</vt:lpstr>
      <vt:lpstr>Project Description</vt:lpstr>
      <vt:lpstr>WHO ARE THE END USERS?</vt:lpstr>
      <vt:lpstr>Technology Used</vt:lpstr>
      <vt:lpstr>RESULTS: SEASONAL PERFORMANCE</vt:lpstr>
      <vt:lpstr>RESULTS :PRODUCTION AND PROFITABILITY</vt:lpstr>
      <vt:lpstr>RESULTS : SEASONAL CONDITIONS AND YIELD</vt:lpstr>
      <vt:lpstr>RESULTS : IRRIGATION AND WATER EFFICIENCY</vt:lpstr>
      <vt:lpstr>RESULTS:ECONOMIC AND REGIONAL ANALYSIS </vt:lpstr>
      <vt:lpstr>CORRELATION ANALYSIS OF AGRICULTURAL VARIABLES</vt:lpstr>
      <vt:lpstr>Future scope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Suraj Manjule</cp:lastModifiedBy>
  <cp:revision>149</cp:revision>
  <dcterms:created xsi:type="dcterms:W3CDTF">2021-07-11T13:13:15Z</dcterms:created>
  <dcterms:modified xsi:type="dcterms:W3CDTF">2026-09-08T08:05:12Z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